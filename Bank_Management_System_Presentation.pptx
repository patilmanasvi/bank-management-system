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371600"/>
            <a:ext cx="1097280" cy="73152"/>
          </a:xfrm>
          <a:prstGeom prst="rect">
            <a:avLst/>
          </a:prstGeom>
          <a:solidFill>
            <a:srgbClr val="2A6FC9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6459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Bank Management System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0D4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Enterprise 3-Tier Banking System Demonstrating Advanced OOP, 3NF Relational DBMS &amp; ACID Transactions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97280" y="3840480"/>
            <a:ext cx="9875520" cy="2011680"/>
          </a:xfrm>
          <a:prstGeom prst="roundRect">
            <a:avLst>
              <a:gd name="adj" fmla="val 6818"/>
            </a:avLst>
          </a:prstGeom>
          <a:solidFill>
            <a:srgbClr val="13345A"/>
          </a:solidFill>
          <a:ln w="12700">
            <a:solidFill>
              <a:srgbClr val="244B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4023360"/>
            <a:ext cx="9326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/ Subject: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E6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OOP in Java &amp; Database Management Systems (DBMS)
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E6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Backend (REST Server) | MySQL InnoDB (12 Tables) | Vanilla JS Frontend
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Domain: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E6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 Banking, ACID Fund Transfers, KYC Management &amp; Loan Approvals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 &amp; Project Objectives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Addressing core architectural bottlenecks in traditional banking implementations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9377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Challenges in Traditional Software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43891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UI-Database Coupling:
</a:t>
            </a:r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SQL in UI files causes fragility and security vulnerabilities.
</a:t>
            </a:r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Concurrency Anomalies:
</a:t>
            </a:r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 ACID transaction boundaries, simultaneous transfers cause dirty reads and lost updates.
</a:t>
            </a:r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Unnormalized Data Schemas:
</a:t>
            </a:r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Redundant branch and customer data leads to update and deletion anomalies.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12064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7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Core Project Objectives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011680"/>
            <a:ext cx="45720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Decoupled 3-Tier Layering:
</a:t>
            </a:r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 separation of Presentation, Business Logic (Java), and Database (MySQL).
</a:t>
            </a:r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Guaranteed ACID Compliance:
</a:t>
            </a:r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Atomic all-or-nothing fund transfers using database transaction management.
</a:t>
            </a:r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3NF Schema Normalization:
</a:t>
            </a:r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normalized tables eliminating transitive dependencies and redundant records.
</a:t>
            </a:r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Access Control (RBAC):
</a:t>
            </a:r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Fine-grained privilege separation for Customers, Staff, and Administrators.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3-Tier System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Decoupled data flow from browser presentation to MySQL InnoDB storage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102412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1D4E8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371600"/>
            <a:ext cx="228600" cy="1371600"/>
          </a:xfrm>
          <a:prstGeom prst="rect">
            <a:avLst/>
          </a:prstGeom>
          <a:solidFill>
            <a:srgbClr val="1D4E89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1508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Presentation Layer (Frontend &amp; Desktop)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8745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HTML5, CSS3, ES6 JavaScript Web Portal | Java Swing Desktop GUI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Communicates purely via asynchronous REST JSON requests (fetch API).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017520"/>
            <a:ext cx="102412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2A6F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017520"/>
            <a:ext cx="228600" cy="1371600"/>
          </a:xfrm>
          <a:prstGeom prst="rect">
            <a:avLst/>
          </a:prstGeom>
          <a:solidFill>
            <a:srgbClr val="2A6FC9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154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6F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Application Layer (Java Backend &amp; Services)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35204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Embedded Java HTTP Server (Port 8080) | REST API Endpoints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OOP Models (Account, Customer) &amp; Services (TransactionService, LoanService, AccountService)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4663440"/>
            <a:ext cx="102412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0B25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663440"/>
            <a:ext cx="228600" cy="13716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4800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Database Layer (MySQL 8.0 Engine)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51663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 InnoDB Relational Database with 12 Tables in 3NF Normalization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Enforces Foreign Keys, CHECK constraints, Row-Level Locks, and ACID Transactions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Object-Oriented Programming (OOP) Deep Dive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implementation of the 4 core pillars in Java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51206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Encapsulation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87452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sensitive financial fields (balance, accountNumber) are protected/private.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balance edits are blocked. All balance modifications require synchronized domain methods with positive-amount validation using BigDecimal.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1206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Inheritance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187452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Entity Hierarchy: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 base class extended by Customer (adds KYC/PAN/DOB) and Employee (adds designation/salary).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 Hierarchy: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 base extended by SavingsAccount, CurrentAccount, FixedDepositAccount.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51206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886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Polymorphism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425196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 Overriding: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SavingsAccount: Enforces minimum balance threshold.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CurrentAccount: Overdraft support allows negative balance up to limit.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FixedDepositAccount: Blocks withdrawals before maturity.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Overridden calculateInterest() logic.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3749040"/>
            <a:ext cx="51206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886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Abstraction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425196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Abstract Class Account: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Cannot be instantiated directly (new Account() is prohibited).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Enforces common balance state while compelling concrete subclasses to supply their unique interest and withdrawal behaviors.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Design &amp; 3NF Schema Normalization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Relational Tables in Third Normal Form in MySQL InnoDB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502920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Normalized Relational Tables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45720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branch: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 locations &amp; IFSC codes
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customer: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KYC, PAN &amp; contact data
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employee: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Bank personnel &amp; designations
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account_type: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 categories &amp; base rates
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account: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Master ledger with live balances
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transaction: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Immutable debit/credit audit trail
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loan_type / loan: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Loan categories &amp; applications
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login: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credentials (Admin/Staff/User)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26480" y="1371600"/>
            <a:ext cx="521208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5544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3NF Normalization &amp; Integrity Guarantees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1920240"/>
            <a:ext cx="47548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1NF (Atomicity):
</a:t>
            </a:r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table columns hold atomic values; no multi-valued attributes.
</a:t>
            </a:r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2NF (No Partial Key Dependency):
</a:t>
            </a:r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Non-key attributes are fully dependent on table primary keys.
</a:t>
            </a:r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3NF (No Transitive Dependencies):
</a:t>
            </a:r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 IFSC and addresses isolated in branch master table. Eliminates update and deletion anomalies.
</a:t>
            </a:r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 Constraints:
</a:t>
            </a:r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(balance &gt;= 0) and CHECK (status IN ('ACTIVE', 'FROZEN', 'CLOSED')) enforced at database level.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ACID Transactions &amp; Concurrency Control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Ensuring atomic financial consistency during inter-account transfers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0607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08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 Execution Flow in TransactionService.java: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874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conn.setAutoCommit(false) -&gt; 2. Row Lock &amp; Balance Validation -&gt; 3. Debit Sender -&gt; 4. Credit Receiver -&gt; 5. Write Audit Log -&gt; 6. conn.commit()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2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Exception / Failure State -&gt; conn.rollback() guarantees zero partial balances or lost funds.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566160"/>
            <a:ext cx="2377440" cy="25603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2A6F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49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Atomicity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114800"/>
            <a:ext cx="2011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Debit from sender and credit to receiver happen as one single indivisible unit. Both succeed or both rollback.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3566160"/>
            <a:ext cx="2377440" cy="25603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2A6F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3749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Consistency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4114800"/>
            <a:ext cx="2011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Balance non-negative constraints and system total balance invariants remain preserved before and after execution.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3566160"/>
            <a:ext cx="2377440" cy="25603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2A6F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749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4114800"/>
            <a:ext cx="2011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 InnoDB row-level locking (SELECT ... FOR UPDATE) prevents dirty reads and lost updates during concurrent operations.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61120" y="3566160"/>
            <a:ext cx="2377440" cy="25603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2A6F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0" y="3749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Durability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0" y="4114800"/>
            <a:ext cx="2011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Once conn.commit() completes, changes are written to MySQL Redo Log (WAL) and permanently saved on physical disk.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Architecture &amp; User Experience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Clean, student-made, and responsive vanilla web design with zero heavy frameworks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51206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System &amp; Visual Theme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87452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Palette: Deep Navy (#0B2545), Pure White Cards (#FFFFFF), Soft Border (#DDE2E8).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Softened 8px rounded corners across all cards, inputs, and tables.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100% clean, professional, distraction-free labels (Zero emojis).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Modern Segoe UI typography with clear information hierarchy.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1206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Role-Aware Sidebar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187452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Dynamically renders navigation links matching logged-in user role.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Collapsible Sidebar with smooth 0.25s CSS transitions.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User toggle preference (◂/▸) persisted in localStorage across page loads.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Responsive layout adapts main-content margin automatically.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51206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886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Client-Side Route Protection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425196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checkAuth() guard checks localStorage session on every page load.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Unauthenticated access immediately redirected to login.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Customers strictly blocked from accessing Admin Control Panel.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Centralized logout clears session and redirects.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3749040"/>
            <a:ext cx="51206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886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Asynchronous REST Integration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425196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Built with modern ES6 async/await and native fetch() API.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Seamless DOM updates (balance cards, status badges, tables) without page reloads.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User feedback via clean success and error alert banners.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external library dependencies (No React/Bootstrap overhead).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Banking Portal Features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self-service banking operations for account holders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544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Dashboard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 balance summary card with INR formatting, quick action buttons, and recent 5 transactions ledger.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37160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5544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Deposit &amp; Withdrawal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192024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crediting and debiting with instant validation preventing negative balance states.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137160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15544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Atomic Fund Transfer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0" y="192024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inter-account money transfer with automatic debit/credit balance reconciliation in MySQL.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74904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931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New Account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429768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Self-service creation of additional Savings (4%), Current (Overdraft), or Fixed Deposit (7.5%) accounts.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89120" y="374904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3931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Loan Applications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429768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for Home, Personal, Car, or Education loans with customizable tenure and interest calculation.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46720" y="374904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3931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KYC &amp; Profile Settings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0" y="429768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official verified PAN/DOB records, update contact info (Phone, Email, Address), and change password.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&amp; Admin Management Panel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control center for bank employees and system managers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291840" cy="45720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9050">
            <a:solidFill>
              <a:srgbClr val="1D4E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45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Accounts Directory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29260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Real-time inspection of all customer accounts in the bank.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Live balance monitoring across all branches.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Color-coded operational status badges (ACTIVE / FROZEN).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Immediate search and table refresh controls.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463040"/>
            <a:ext cx="3291840" cy="45720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9050">
            <a:solidFill>
              <a:srgbClr val="1D4E8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645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 Freeze / Activate Controls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2194560"/>
            <a:ext cx="29260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One-click security freeze on suspicious or compromised accounts.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Frozen accounts are immediately locked out from withdrawals and transfers at API and DB layers.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One-click reactivation restores normal operations.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463040"/>
            <a:ext cx="3291840" cy="45720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9050">
            <a:solidFill>
              <a:srgbClr val="1D4E8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1645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Loan Approval &amp; Decision System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0" y="2194560"/>
            <a:ext cx="29260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Bank staff review pending customer loan applications.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Inspects applicant name, requested amount, category, and tenure.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Interactive Approve / Reject buttons with immediate MySQL status updates.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Logging &amp; Multi-Parameter Transaction History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Immutable financial ledger auditing with server-side query filters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0607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Immutable Financial Audit Trail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financial event (Deposit, Withdrawal, Transfer) is recorded into the MySQL transaction table with immutable timestamps, before/after balance tracking, and transaction classification. Financial records can never be overwritten or tampered with.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657600"/>
            <a:ext cx="51206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840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Range Search Filters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420624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and auditors can filter transactions between specific start and end dates (From Date / To Date). Backend constructs parameterized SQL date queries safely without injection risk.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3657600"/>
            <a:ext cx="51206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3840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 Type Classification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420624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categorization by Credit (+) or Debit (-). Color-coded badges and green/red monospace amount formatting allow quick audit verification of all cash movements.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Testing &amp; Automated Verification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Comprehensive 22-step End-to-End and API test suite validating system stability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657600" cy="4754880"/>
          </a:xfrm>
          <a:prstGeom prst="roundRect">
            <a:avLst>
              <a:gd name="adj" fmla="val 2500"/>
            </a:avLst>
          </a:prstGeom>
          <a:solidFill>
            <a:srgbClr val="E6F4EA"/>
          </a:solidFill>
          <a:ln w="25400">
            <a:solidFill>
              <a:srgbClr val="1F7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45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7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Results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F7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 / 22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7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PASSED (100% SUCCESS)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7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Failures Reported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38912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suite built using Java native HttpClient in SystemTest.java.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658368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55448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Validated Test Categories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0" y="1920240"/>
            <a:ext cx="60350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Authentication &amp; Sessions: </a:t>
            </a:r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Valid/invalid credential validation with HTTP 200/401.
</a:t>
            </a:r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Deposit &amp; Withdraw Accuracy: </a:t>
            </a:r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Mathematical balance verification in MySQL.
</a:t>
            </a:r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Atomic Fund Transfers: </a:t>
            </a:r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Simultaneous sender debit &amp; receiver credit consistency.
</a:t>
            </a:r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Boundary &amp; Overdraft Checks: </a:t>
            </a:r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Negative balance prevention &amp; error messages.
</a:t>
            </a:r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Bad Input Sanitization: </a:t>
            </a:r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Non-numeric, negative, and missing payloads rejected with clean HTTP 400 (no server crashes).
</a:t>
            </a:r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Filtered Query Validation: </a:t>
            </a:r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Type-specific and date-specific history queries.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 &amp; Development Tools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Standard, high-performance tools with zero unnecessary third-party overhead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2377440" cy="45720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25400">
            <a:solidFill>
              <a:srgbClr val="0B2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2377440" cy="64008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00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20116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Java 11+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Core OOP &amp; Concurrency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Embedded HttpServer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MySQL Connector/J 8.3.0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0" y="1463040"/>
            <a:ext cx="2377440" cy="45720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25400">
            <a:solidFill>
              <a:srgbClr val="1D4E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463040"/>
            <a:ext cx="2377440" cy="640080"/>
          </a:xfrm>
          <a:prstGeom prst="rect">
            <a:avLst/>
          </a:prstGeom>
          <a:solidFill>
            <a:srgbClr val="1D4E89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600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Layer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2377440"/>
            <a:ext cx="20116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MySQL 8.0 Server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InnoDB Storage Engine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12 Normalized 3NF Tables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ACID Transaction Locks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377440" cy="45720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25400">
            <a:solidFill>
              <a:srgbClr val="2A6FC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463040"/>
            <a:ext cx="2377440" cy="640080"/>
          </a:xfrm>
          <a:prstGeom prst="rect">
            <a:avLst/>
          </a:prstGeom>
          <a:solidFill>
            <a:srgbClr val="2A6FC9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600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Layer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2377440"/>
            <a:ext cx="20116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HTML5 Semantic Layout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CSS3 (Flex, Grid, Variables)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Vanilla ES6 JavaScript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Native fetch() REST Client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61120" y="1463040"/>
            <a:ext cx="2377440" cy="45720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25400">
            <a:solidFill>
              <a:srgbClr val="3F51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61120" y="1463040"/>
            <a:ext cx="2377440" cy="640080"/>
          </a:xfrm>
          <a:prstGeom prst="rect">
            <a:avLst/>
          </a:prstGeom>
          <a:solidFill>
            <a:srgbClr val="3F51B5"/>
          </a:solidFill>
          <a:ln/>
        </p:spPr>
      </p:sp>
      <p:sp>
        <p:nvSpPr>
          <p:cNvPr id="19" name="Text 17"/>
          <p:cNvSpPr/>
          <p:nvPr/>
        </p:nvSpPr>
        <p:spPr>
          <a:xfrm>
            <a:off x="9052560" y="1600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 &amp; Workflow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0" y="2377440"/>
            <a:ext cx="20116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VS Code &amp; Terminal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Git &amp; GitHub Version Control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MySQL Workbench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Batch (.bat) Automation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Conclusion &amp; Live Demo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371600" y="1645920"/>
            <a:ext cx="9326880" cy="2194560"/>
          </a:xfrm>
          <a:prstGeom prst="roundRect">
            <a:avLst>
              <a:gd name="adj" fmla="val 4167"/>
            </a:avLst>
          </a:prstGeom>
          <a:solidFill>
            <a:srgbClr val="13345A"/>
          </a:solidFill>
          <a:ln w="12700">
            <a:solidFill>
              <a:srgbClr val="244B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0" y="1828800"/>
            <a:ext cx="8778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Achievements &amp; Takeaways: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E6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Built a fully functional, enterprise-grade 3-tier banking system from scratch.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E6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Successfully bridged OOP domain models with a 3NF normalized relational MySQL schema.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E6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Enforced strict ACID transactional integrity preventing real-world concurrency flaws.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E6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Verified 100% test passing rate across 22 automated end-to-end integration tests.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493776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B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are now ready for Questions &amp; Live Demonstration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54864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D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GitHub: github.com/patilmanasvi/Bank-Management-System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Computer Engineering Dept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Management System - Project Presentation</dc:title>
  <dc:subject>PptxGenJS Presentation</dc:subject>
  <dc:creator>Bank Management System Team</dc:creator>
  <cp:lastModifiedBy>Bank Management System Team</cp:lastModifiedBy>
  <cp:revision>1</cp:revision>
  <dcterms:created xsi:type="dcterms:W3CDTF">2026-09-23T15:45:29Z</dcterms:created>
  <dcterms:modified xsi:type="dcterms:W3CDTF">2026-09-23T15:45:29Z</dcterms:modified>
</cp:coreProperties>
</file>