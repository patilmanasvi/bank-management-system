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058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A6FC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CAPSTONE PROJECT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 Management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8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Enterprise 3-Tier Banking System Demonstrating Advanced OOP, 3NF Relational DBMS &amp; ACID Transactions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6217920" cy="3108960"/>
          </a:xfrm>
          <a:prstGeom prst="roundRect">
            <a:avLst>
              <a:gd name="adj" fmla="val 2941"/>
            </a:avLst>
          </a:prstGeom>
          <a:solidFill>
            <a:srgbClr val="13345A"/>
          </a:solidFill>
          <a:ln w="12700">
            <a:solidFill>
              <a:srgbClr val="244B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2918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9B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 &amp; Architecture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03320"/>
            <a:ext cx="5669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in Java &amp; Database Management Systems Lab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11+ (REST Server), MySQL 8.0 (InnoDB), HTML5/CSS3/JS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Capabilities: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ACID Fund Transfers, 3NF Schema (12 Tables), Role-Based Access Control, Account Freeze, KYC Profile &amp; Loan Approvals</a:t>
            </a:r>
            <a:endParaRPr lang="en-US" sz="1050" dirty="0"/>
          </a:p>
        </p:txBody>
      </p:sp>
      <p:pic>
        <p:nvPicPr>
          <p:cNvPr id="9" name="Image 0" descr="assets/login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108960"/>
            <a:ext cx="4206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GOALS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&amp; Project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Overcoming architectural limitations in traditional banking software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12064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5120640" cy="411480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188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IN TRADITIONAL SOFTWARE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UI-Database Coupling: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Hardcoded SQL inside UI buttons leads to fragile code, SQL injection risks, and poor maintainability.
</a:t>
            </a:r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Concurrency &amp; Race Conditions: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transaction locks, simultaneous transfers cause dirty reads, lost updates, and phantom balances.
</a:t>
            </a:r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Unnormalized Data Schemas: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Redundant branch and customer attributes create update and deletion anomalies.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43000"/>
            <a:ext cx="521208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5212080" cy="411480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188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CORE PROJECT OBJECTIVES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Decoupled 3-Tier Layering: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separation: Browser UI &lt;-&gt; Java REST Backend &lt;-&gt; MySQL 8.0 InnoDB.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Guaranteed ACID Transactions: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all-or-nothing transfers with automated rollback on failure.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3NF Normalization: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with zero transitive dependencies.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Access Control (RBAC):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Fine-grained permissions for Customers, Staff, and Administrators.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System Architecture &amp; Data 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decoupled request/response pipeline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D4E8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137160" cy="155448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25272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Presentation Layer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05840" y="1600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Vanilla HTML5 / CSS3 / ES6 JS Web Portal + Swing GUI.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Communicates via async REST JSON calls (fetch API).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2A6F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880360"/>
            <a:ext cx="137160" cy="1554480"/>
          </a:xfrm>
          <a:prstGeom prst="rect">
            <a:avLst/>
          </a:prstGeom>
          <a:solidFill>
            <a:srgbClr val="2A6FC9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9008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6F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Application Layer (Java Backend)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5840" y="33375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Java HttpServer (Port 8080) with REST Handlers.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Domain Models &amp; Services (Transaction, Account, Loan).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46177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617720"/>
            <a:ext cx="137160" cy="15544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72744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Database Layer (MySQL 8.0 InnoDB)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05840" y="5074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in 3NF Normalization.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Foreign Keys, CHECK constraints, and ACID locks.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DIAGRAM / DATA FLOW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3-Tier Layered Diagram or Postman API Test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OOP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Object-Oriented Programming (OOP) Deep Dive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implementation of the four OOP pillars in 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9047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fields (balance, accNo) are private/protected. Mutations require synchronized methods using BigDecimal precision.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Inheritance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77063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 base class -&gt; Customer (KYC/PAN) &amp; Employee.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base -&gt; SavingsAccount, CurrentAccount, FD.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94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05079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Overridden withdraw(): SavingsAccount checks min-balance, CurrentAccount supports overdraft, FD blocks early exit.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7492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33095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Account class prevents invalid instantiation while compelling concrete subtypes to define interest logic.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4983480"/>
          </a:xfrm>
          <a:prstGeom prst="roundRect">
            <a:avLst>
              <a:gd name="adj" fmla="val 1468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4038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0861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CLASS HIERARCHY / MODEL 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518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Account.java or Class Hierarchy Diagram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SCHEMA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Design &amp; 3NF Normalization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in Third Normal Form in MySQL InnoDB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Normalized Tables &amp; Integrity Checks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691640"/>
            <a:ext cx="493776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Normalized Schema: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branch, customer, employee, account_type, account, transaction, beneficiary, card, loan_type, loan, loan_payment, login.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1NF (Atomicity):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columns store atomic values without repeating groups.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2NF (Functional Dependency):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partial functional dependencies on composite keys.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3NF (Zero Transitive Dependency):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 IFSC and location isolated in branch master table. Eliminates update and deletion anomalies.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DB Constraints: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(balance &gt;= 0) and CHECK (status IN ('ACTIVE', 'FROZEN', 'CLOSED')).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WORKBENCH ER DIAGRAM / SCHEMA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MySQL Tables or SHOW TABLES output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ACID Transactions &amp; Concurrency Control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Ensuring atomic financial consistency during inter-account transfers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0698480" cy="1280160"/>
          </a:xfrm>
          <a:prstGeom prst="roundRect">
            <a:avLst>
              <a:gd name="adj" fmla="val 5714"/>
            </a:avLst>
          </a:prstGeom>
          <a:solidFill>
            <a:srgbClr val="EBF3FC"/>
          </a:solidFill>
          <a:ln w="19050">
            <a:solidFill>
              <a:srgbClr val="2A6F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10332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Pipeline (TransactionService.java):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conn.setAutoCommit(false) -&gt; 1. Row Lock (SELECT ... FOR UPDATE) -&gt; 2. Debit Sender -&gt; 3. Credit Receiver -&gt; 4. Audit Log -&gt; conn.commit()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1874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Exception / Error: conn.rollback() returns database to exact original state with zero funds lost.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7157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0175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Debit and credit happen as one unit. Both succeed or both rollback.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83280" y="26060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7157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20440" y="30175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total balance invariants &amp; non-negative checks are preserved.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43891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49884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48006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InnoDB row locks prevent lost updates during concurrent transfers.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43891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449884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Durability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48006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Committed records written to MySQL Redo Log (WAL) on disk.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26060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858000" y="37490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7947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CODE / LOG SCREENSHOT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transferFunds() code or MySQL Terminal logs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Architecture &amp; UI Design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Clean, student-made, responsive vanilla web design with zero framework overhead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Design Philosophy &amp; 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691640"/>
            <a:ext cx="493776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Modern Design System: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Navy (#0B2545) primary, soft neutral surfaces, and clean card elevations with 8px rounded corners.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Distracting Emojis: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clean, professional, academic labels throughout all pages.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Collapsible Dynamic Sidebar: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navigation matching user role with smooth 0.25s transitions. User preference (◂/▸) persisted in localStorage.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Client-Side Route Protection: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checkAuth() guard checks session and strictly blocks Customers from Admin controls.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Asynchronous REST Integration: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fetch() with async/await updates balance cards and tables seamlessly without page reloads.</a:t>
            </a:r>
            <a:endParaRPr lang="en-US" sz="980" dirty="0"/>
          </a:p>
        </p:txBody>
      </p:sp>
      <p:pic>
        <p:nvPicPr>
          <p:cNvPr id="10" name="Image 0" descr="assets/login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1430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FEATURES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Banking Portal Features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self-service banking operations for account holders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 &amp; Balance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9047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balance summary card with INR formatting, quick action shortcuts, and recent 5 transactions ledger.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Deposit &amp; Withdrawal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77063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 crediting and debiting with instant validation preventing negative balance states.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94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Fund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05079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inter-account money transfer with automatic debit/credit balance reconciliation in MySQL.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7492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Sub-Accounts, Loans &amp; KYC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33095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additional Savings/Current/FD accounts, apply for loans, and update verified KYC contact details.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4983480"/>
          </a:xfrm>
          <a:prstGeom prst="roundRect">
            <a:avLst>
              <a:gd name="adj" fmla="val 1468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4038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0861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PORTAL SCREENSHOT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518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Customer Dashboard / Transfer Form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PORTAL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&amp; Admin Management Panel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control center for bank staff and system administrators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Directory &amp; Monitoring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overview of all customer accounts across branches, showing live balances, account types, and operational statuses.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17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Freeze / Activate Controls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security freeze on suspicious accounts. Frozen accounts are locked from withdrawals and transfers at API and DB layers.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46177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54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Decision System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512064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review pending loan applications (amount, category, tenure) and execute single-click Approve / Reject actions with real-time MySQL updates.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PANEL &amp; LOAN SCREENSHOT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admin.html and loans.html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Logging &amp; Multi-Parameter Transaction History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 financial ledger auditing with server-side query filters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Compliance &amp; Search Filters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Immutable Audit Ledger: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financial movement (Deposit, Withdraw, Transfer) is logged with immutable timestamps and balance_after tracking. Financial records can never be overwritten.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Server-Side Date Filters: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and auditors can filter transactions between specific start and end dates (From Date / To Date). Backend safely binds dates in parameterized SQL queries.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Transaction Type Filtering: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classification by Credit (+) or Debit (-). Color-coded status badges allow rapid visual verification of cash movements.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HISTORY TABLE SCREENSHOT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transactions.html with Date/Type filters applied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Testing &amp; Automated Verification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22-step End-to-End and API test suite validating stability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E6F4E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SUITE RESULTS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22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PASSED (100% SUCCESS)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Failures Reported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2918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Test Coverage: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Authentication &amp; Session Validation (HTTP 200/401)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Deposit/Withdraw Mathematical Precision in MySQL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Atomic Transfer Consistency (Sender &amp; Receiver)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Overdraft and Insufficient Funds Error Handling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Bad Input Sanitization (Non-numeric / Negative amounts)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Filtered Query Validation (Date range &amp; Type filters)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TERMINAL TEST RUNNER SCREENSHOT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SystemTest.java output showing 22 [PASS] rows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 &amp; Development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Standard, high-performance tools with zero unnecessary third-party overhead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25146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Layer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Java 11+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Core OOP Models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Embedded HttpServer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Connector/J 8.3.0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Port 8080 REST API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1D4E8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143000"/>
            <a:ext cx="2514600" cy="50292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Layer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MySQL 8.0 Server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InnoDB Engine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12 Tables in 3NF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ACID Row Locks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Foreign Key Rules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2A6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143000"/>
            <a:ext cx="2514600" cy="502920"/>
          </a:xfrm>
          <a:prstGeom prst="rect">
            <a:avLst/>
          </a:prstGeom>
          <a:solidFill>
            <a:srgbClr val="2A6FC9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Layer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Semantic HTML5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CSS3 Variables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Vanilla ES6 JS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fetch() REST Client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localStorage Session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3F5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0" y="1143000"/>
            <a:ext cx="2514600" cy="502920"/>
          </a:xfrm>
          <a:prstGeom prst="rect">
            <a:avLst/>
          </a:prstGeom>
          <a:solidFill>
            <a:srgbClr val="3F51B5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&amp; DevOps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VS Code &amp; Terminal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 &amp; GitHub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MySQL Workbench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Batch Scripts (.bat)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SystemTest Runner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Conclusion &amp; Live Demo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9966960" cy="2194560"/>
          </a:xfrm>
          <a:prstGeom prst="roundRect">
            <a:avLst>
              <a:gd name="adj" fmla="val 4167"/>
            </a:avLst>
          </a:prstGeom>
          <a:solidFill>
            <a:srgbClr val="13345A"/>
          </a:solidFill>
          <a:ln w="12700">
            <a:solidFill>
              <a:srgbClr val="244B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645920"/>
            <a:ext cx="9418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Achievements &amp; Takeaways: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Built a robust, production-grade 3-tier banking system from scratch without bulky frameworks.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Successfully bridged Java OOP domain models with a 3NF normalized MySQL database.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Enforced strict ACID transactional integrity on all inter-account financial operations.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Verified 100% test pass rate across 22 automated integration tests in SystemTest.java.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B8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are now ready for Questions &amp; Live System Demonstration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0D4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Repository: github.com/patilmanasvi/Bank-Management-System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Computer Engineering Dept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 Management System - Project Presentation</dc:title>
  <dc:subject>PptxGenJS Presentation</dc:subject>
  <dc:creator>Bank Management System Team</dc:creator>
  <cp:lastModifiedBy>Bank Management System Team</cp:lastModifiedBy>
  <cp:revision>1</cp:revision>
  <dcterms:created xsi:type="dcterms:W3CDTF">2026-09-23T16:05:17Z</dcterms:created>
  <dcterms:modified xsi:type="dcterms:W3CDTF">2026-09-23T16:05:17Z</dcterms:modified>
</cp:coreProperties>
</file>