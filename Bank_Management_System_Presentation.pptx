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05840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2A6FC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0584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CAPSTONE PROJECT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Bank Management System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31520" y="23317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8DC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Enterprise 3-Tier Banking System Demonstrating Advanced OOP, 3NF Relational DBMS &amp; ACID Transactions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31520" y="3108960"/>
            <a:ext cx="6217920" cy="3108960"/>
          </a:xfrm>
          <a:prstGeom prst="roundRect">
            <a:avLst>
              <a:gd name="adj" fmla="val 2941"/>
            </a:avLst>
          </a:prstGeom>
          <a:solidFill>
            <a:srgbClr val="13345A"/>
          </a:solidFill>
          <a:ln w="12700">
            <a:solidFill>
              <a:srgbClr val="244B7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29184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9B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Overview &amp; Architecture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703320"/>
            <a:ext cx="56692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Course: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8E6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OOP in Java &amp; Database Management Systems Lab
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Stack: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8E6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 11+ (REST Server), MySQL 8.0 (InnoDB), HTML5/CSS3/JS
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Capabilities: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8E6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ACID Fund Transfers, 3NF Schema (12 Tables), Role-Based Access Control, Account Freeze, KYC Profile &amp; Loan Approvals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223760" y="3108960"/>
            <a:ext cx="4206240" cy="3108960"/>
          </a:xfrm>
          <a:prstGeom prst="roundRect">
            <a:avLst>
              <a:gd name="adj" fmla="val 2353"/>
            </a:avLst>
          </a:prstGeom>
          <a:solidFill>
            <a:srgbClr val="EAEEF3"/>
          </a:solidFill>
          <a:ln w="19050">
            <a:solidFill>
              <a:srgbClr val="B8C7D9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7498080" y="4069080"/>
            <a:ext cx="3657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0" y="411480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LOGO / UI PREVIEW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498080" y="448056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Insert College Logo or Dashboard Mockup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"/>
            <a:ext cx="2011680" cy="201168"/>
          </a:xfrm>
          <a:prstGeom prst="roundRect">
            <a:avLst>
              <a:gd name="adj" fmla="val 36364"/>
            </a:avLst>
          </a:prstGeom>
          <a:solidFill>
            <a:srgbClr val="2A6FC9"/>
          </a:solidFill>
          <a:ln w="12700">
            <a:solidFill>
              <a:srgbClr val="2A6F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GOALS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731520" y="329184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Statement &amp; Project Objectives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694944"/>
            <a:ext cx="10698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C8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Overcoming architectural limitations in traditional banking software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1143000"/>
            <a:ext cx="5120640" cy="512064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143000"/>
            <a:ext cx="5120640" cy="411480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1887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CHALLENGES IN TRADITIONAL SOFTWARE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05840" y="1737360"/>
            <a:ext cx="45720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522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 UI-Database Coupling:
</a:t>
            </a:r>
            <a:pPr indent="0" marL="0"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Hardcoded SQL inside UI buttons leads to fragile code, SQL injection risks, and poor maintainability.
</a:t>
            </a:r>
            <a:pPr indent="0" marL="0">
              <a:buNone/>
            </a:pPr>
            <a:r>
              <a:rPr lang="en-US" sz="1050" b="1" dirty="0">
                <a:solidFill>
                  <a:srgbClr val="C522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Concurrency &amp; Race Conditions:
</a:t>
            </a:r>
            <a:pPr indent="0" marL="0"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transaction locks, simultaneous transfers cause dirty reads, lost updates, and phantom balances.
</a:t>
            </a:r>
            <a:pPr indent="0" marL="0">
              <a:buNone/>
            </a:pPr>
            <a:r>
              <a:rPr lang="en-US" sz="1050" b="1" dirty="0">
                <a:solidFill>
                  <a:srgbClr val="C522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Unnormalized Data Schemas:
</a:t>
            </a:r>
            <a:pPr indent="0" marL="0"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Redundant branch and customer attributes create update and deletion anomalies.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17920" y="1143000"/>
            <a:ext cx="5212080" cy="512064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143000"/>
            <a:ext cx="5212080" cy="411480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11887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CORE PROJECT OBJECTIVES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0" y="1737360"/>
            <a:ext cx="466344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37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Decoupled 3-Tier Layering:
</a:t>
            </a:r>
            <a:pPr indent="0" marL="0"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 separation: Browser UI &lt;-&gt; Java REST Backend &lt;-&gt; MySQL 8.0 InnoDB.
</a:t>
            </a:r>
            <a:pPr indent="0" marL="0">
              <a:buNone/>
            </a:pPr>
            <a:r>
              <a:rPr lang="en-US" sz="1050" b="1" dirty="0">
                <a:solidFill>
                  <a:srgbClr val="137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Guaranteed ACID Transactions:
</a:t>
            </a:r>
            <a:pPr indent="0" marL="0"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Atomic all-or-nothing transfers with automated rollback on failure.
</a:t>
            </a:r>
            <a:pPr indent="0" marL="0">
              <a:buNone/>
            </a:pPr>
            <a:r>
              <a:rPr lang="en-US" sz="1050" b="1" dirty="0">
                <a:solidFill>
                  <a:srgbClr val="137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Strict 3NF Normalization:
</a:t>
            </a:r>
            <a:pPr indent="0" marL="0"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relational tables with zero transitive dependencies.
</a:t>
            </a:r>
            <a:pPr indent="0" marL="0">
              <a:buNone/>
            </a:pPr>
            <a:r>
              <a:rPr lang="en-US" sz="1050" b="1" dirty="0">
                <a:solidFill>
                  <a:srgbClr val="137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Role-Based Access Control (RBAC):
</a:t>
            </a:r>
            <a:pPr indent="0" marL="0"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Fine-grained permissions for Customers, Staff, and Administrators.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"/>
            <a:ext cx="2011680" cy="201168"/>
          </a:xfrm>
          <a:prstGeom prst="roundRect">
            <a:avLst>
              <a:gd name="adj" fmla="val 36364"/>
            </a:avLst>
          </a:prstGeom>
          <a:solidFill>
            <a:srgbClr val="2A6FC9"/>
          </a:solidFill>
          <a:ln w="12700">
            <a:solidFill>
              <a:srgbClr val="2A6F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731520" y="329184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3-Tier System Architecture &amp; Data Flow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694944"/>
            <a:ext cx="10698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C8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End-to-end decoupled request/response pipeline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114300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1D4E8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143000"/>
            <a:ext cx="137160" cy="1554480"/>
          </a:xfrm>
          <a:prstGeom prst="rect">
            <a:avLst/>
          </a:prstGeom>
          <a:solidFill>
            <a:srgbClr val="1D4E89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1252728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Presentation Layer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005840" y="160020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Vanilla HTML5 / CSS3 / ES6 JS Web Portal + Swing GUI.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Communicates via async REST JSON calls (fetch API).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31520" y="288036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2A6FC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2880360"/>
            <a:ext cx="137160" cy="1554480"/>
          </a:xfrm>
          <a:prstGeom prst="rect">
            <a:avLst/>
          </a:prstGeom>
          <a:solidFill>
            <a:srgbClr val="2A6FC9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2990088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6FC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Application Layer (Java Backend)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005840" y="333756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Embedded Java HttpServer (Port 8080) with REST Handlers.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OOP Domain Models &amp; Services (Transaction, Account, Loan).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461772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B254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617720"/>
            <a:ext cx="137160" cy="155448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4727448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Database Layer (MySQL 8.0 InnoDB)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005840" y="507492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Relational Tables in 3NF Normalization.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Enforces Foreign Keys, CHECK constraints, and ACID locks.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1143000"/>
            <a:ext cx="5029200" cy="5029200"/>
          </a:xfrm>
          <a:prstGeom prst="roundRect">
            <a:avLst>
              <a:gd name="adj" fmla="val 1455"/>
            </a:avLst>
          </a:prstGeom>
          <a:solidFill>
            <a:srgbClr val="EAEEF3"/>
          </a:solidFill>
          <a:ln w="19050">
            <a:solidFill>
              <a:srgbClr val="B8C7D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995160" y="3063240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95160" y="310896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DIAGRAM / DATA FLOW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995160" y="34747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Paste 3-Tier Layered Diagram or Postman API Test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"/>
            <a:ext cx="2011680" cy="201168"/>
          </a:xfrm>
          <a:prstGeom prst="roundRect">
            <a:avLst>
              <a:gd name="adj" fmla="val 36364"/>
            </a:avLst>
          </a:prstGeom>
          <a:solidFill>
            <a:srgbClr val="2A6FC9"/>
          </a:solidFill>
          <a:ln w="12700">
            <a:solidFill>
              <a:srgbClr val="2A6F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 OOP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731520" y="329184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Object-Oriented Programming (OOP) Deep Dive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694944"/>
            <a:ext cx="10698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C8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Real-world implementation of the four OOP pillars in Java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114300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23444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Encapsulation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1490472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fields (balance, accNo) are private/protected. Mutations require synchronized methods using BigDecimal precision.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31520" y="242316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1460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Inheritance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2770632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 base class -&gt; Customer (KYC/PAN) &amp; Employee.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 base -&gt; SavingsAccount, CurrentAccount, FD.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31520" y="370332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79476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Polymorphism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4050792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Overridden withdraw(): SavingsAccount checks min-balance, CurrentAccount supports overdraft, FD blocks early exit.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31520" y="498348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07492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Abstraction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14400" y="5330952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Abstract Account class prevents invalid instantiation while compelling concrete subtypes to define interest logic.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400800" y="1143000"/>
            <a:ext cx="5029200" cy="4983480"/>
          </a:xfrm>
          <a:prstGeom prst="roundRect">
            <a:avLst>
              <a:gd name="adj" fmla="val 1468"/>
            </a:avLst>
          </a:prstGeom>
          <a:solidFill>
            <a:srgbClr val="EAEEF3"/>
          </a:solidFill>
          <a:ln w="19050">
            <a:solidFill>
              <a:srgbClr val="B8C7D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995160" y="3040380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95160" y="308610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OOP CLASS HIERARCHY / MODEL CODE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995160" y="345186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Paste Screenshot of Account.java or Class Hierarchy Diagram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"/>
            <a:ext cx="2011680" cy="201168"/>
          </a:xfrm>
          <a:prstGeom prst="roundRect">
            <a:avLst>
              <a:gd name="adj" fmla="val 36364"/>
            </a:avLst>
          </a:prstGeom>
          <a:solidFill>
            <a:srgbClr val="2A6FC9"/>
          </a:solidFill>
          <a:ln w="12700">
            <a:solidFill>
              <a:srgbClr val="2A6F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MYSQL SCHEMA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731520" y="329184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Design &amp; 3NF Normalization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694944"/>
            <a:ext cx="10698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C8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Relational Tables in Third Normal Form in MySQL InnoDB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1143000"/>
            <a:ext cx="530352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325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Normalized Tables &amp; Integrity Checks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1691640"/>
            <a:ext cx="493776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Normalized Schema: </a:t>
            </a:r>
            <a:pPr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branch, customer, employee, account_type, account, transaction, beneficiary, card, loan_type, loan, loan_payment, login.
</a:t>
            </a:r>
            <a:pPr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1NF (Atomicity): </a:t>
            </a:r>
            <a:pPr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columns store atomic values without repeating groups.
</a:t>
            </a:r>
            <a:pPr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2NF (Functional Dependency): </a:t>
            </a:r>
            <a:pPr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partial functional dependencies on composite keys.
</a:t>
            </a:r>
            <a:pPr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3NF (Zero Transitive Dependency): </a:t>
            </a:r>
            <a:pPr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Branch IFSC and location isolated in branch master table. Eliminates update and deletion anomalies.
</a:t>
            </a:r>
            <a:pPr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DB Constraints: </a:t>
            </a:r>
            <a:pPr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(balance &gt;= 0) and CHECK (status IN ('ACTIVE', 'FROZEN', 'CLOSED')).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0" y="1143000"/>
            <a:ext cx="5029200" cy="5029200"/>
          </a:xfrm>
          <a:prstGeom prst="roundRect">
            <a:avLst>
              <a:gd name="adj" fmla="val 1455"/>
            </a:avLst>
          </a:prstGeom>
          <a:solidFill>
            <a:srgbClr val="EAEEF3"/>
          </a:solidFill>
          <a:ln w="19050">
            <a:solidFill>
              <a:srgbClr val="B8C7D9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6995160" y="3063240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95160" y="310896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MYSQL WORKBENCH ER DIAGRAM / SCHEMA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995160" y="34747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Paste Screenshot of MySQL Tables or SHOW TABLES output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"/>
            <a:ext cx="2011680" cy="201168"/>
          </a:xfrm>
          <a:prstGeom prst="roundRect">
            <a:avLst>
              <a:gd name="adj" fmla="val 36364"/>
            </a:avLst>
          </a:prstGeom>
          <a:solidFill>
            <a:srgbClr val="2A6FC9"/>
          </a:solidFill>
          <a:ln w="12700">
            <a:solidFill>
              <a:srgbClr val="2A6F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TRANSACTIONS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731520" y="329184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ACID Transactions &amp; Concurrency Control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694944"/>
            <a:ext cx="10698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C8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Ensuring atomic financial consistency during inter-account transfers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1143000"/>
            <a:ext cx="10698480" cy="1280160"/>
          </a:xfrm>
          <a:prstGeom prst="roundRect">
            <a:avLst>
              <a:gd name="adj" fmla="val 5714"/>
            </a:avLst>
          </a:prstGeom>
          <a:solidFill>
            <a:srgbClr val="EBF3FC"/>
          </a:solidFill>
          <a:ln w="19050">
            <a:solidFill>
              <a:srgbClr val="2A6FC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234440"/>
            <a:ext cx="10332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Transaction Pipeline (TransactionService.java):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1508760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conn.setAutoCommit(false) -&gt; 1. Row Lock (SELECT ... FOR UPDATE) -&gt; 2. Debit Sender -&gt; 3. Credit Receiver -&gt; 4. Audit Log -&gt; conn.commit()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400" y="18745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522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Exception / Error: conn.rollback() returns database to exact original state with zero funds lost.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31520" y="260604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2715768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Atomicity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301752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Debit and credit happen as one unit. Both succeed or both rollback.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383280" y="260604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20440" y="2715768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Consistency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520440" y="301752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total balance invariants &amp; non-negative checks are preserved.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31520" y="438912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4498848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Isolation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68680" y="480060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InnoDB row locks prevent lost updates during concurrent transfers.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383280" y="438912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20440" y="4498848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Durability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520440" y="480060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Committed records written to MySQL Redo Log (WAL) on disk.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26480" y="2606040"/>
            <a:ext cx="5303520" cy="3474720"/>
          </a:xfrm>
          <a:prstGeom prst="roundRect">
            <a:avLst>
              <a:gd name="adj" fmla="val 2105"/>
            </a:avLst>
          </a:prstGeom>
          <a:solidFill>
            <a:srgbClr val="EAEEF3"/>
          </a:solidFill>
          <a:ln w="19050">
            <a:solidFill>
              <a:srgbClr val="B8C7D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6858000" y="3749040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0" y="379476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TRANSACTION CODE / LOG SCREENSHOT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58000" y="41605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Paste Screenshot of transferFunds() code or MySQL Terminal logs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"/>
            <a:ext cx="2011680" cy="201168"/>
          </a:xfrm>
          <a:prstGeom prst="roundRect">
            <a:avLst>
              <a:gd name="adj" fmla="val 36364"/>
            </a:avLst>
          </a:prstGeom>
          <a:solidFill>
            <a:srgbClr val="2A6FC9"/>
          </a:solidFill>
          <a:ln w="12700">
            <a:solidFill>
              <a:srgbClr val="2A6F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731520" y="329184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 Architecture &amp; UI Design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694944"/>
            <a:ext cx="10698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C8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Clean, student-made, responsive vanilla web design with zero framework overhead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1143000"/>
            <a:ext cx="530352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325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 Design Philosophy &amp; Features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1691640"/>
            <a:ext cx="493776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Modern Design System: </a:t>
            </a:r>
            <a:pPr indent="0" marL="0">
              <a:buNone/>
            </a:pPr>
            <a:r>
              <a:rPr lang="en-US" sz="98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Deep Navy (#0B2545) primary, soft neutral surfaces, and clean card elevations with 8px rounded corners.
</a:t>
            </a:r>
            <a:pPr indent="0" marL="0">
              <a:buNone/>
            </a:pPr>
            <a:r>
              <a:rPr lang="en-US" sz="98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Zero Distracting Emojis: </a:t>
            </a:r>
            <a:pPr indent="0" marL="0">
              <a:buNone/>
            </a:pPr>
            <a:r>
              <a:rPr lang="en-US" sz="98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clean, professional, academic labels throughout all pages.
</a:t>
            </a:r>
            <a:pPr indent="0" marL="0">
              <a:buNone/>
            </a:pPr>
            <a:r>
              <a:rPr lang="en-US" sz="98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Collapsible Dynamic Sidebar: </a:t>
            </a:r>
            <a:pPr indent="0" marL="0">
              <a:buNone/>
            </a:pPr>
            <a:r>
              <a:rPr lang="en-US" sz="98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Renders navigation matching user role with smooth 0.25s transitions. User preference (◂/▸) persisted in localStorage.
</a:t>
            </a:r>
            <a:pPr indent="0" marL="0">
              <a:buNone/>
            </a:pPr>
            <a:r>
              <a:rPr lang="en-US" sz="98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Client-Side Route Protection: </a:t>
            </a:r>
            <a:pPr indent="0" marL="0">
              <a:buNone/>
            </a:pPr>
            <a:r>
              <a:rPr lang="en-US" sz="98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checkAuth() guard checks session and strictly blocks Customers from Admin controls.
</a:t>
            </a:r>
            <a:pPr indent="0" marL="0">
              <a:buNone/>
            </a:pPr>
            <a:r>
              <a:rPr lang="en-US" sz="98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Asynchronous REST Integration: </a:t>
            </a:r>
            <a:pPr indent="0" marL="0">
              <a:buNone/>
            </a:pPr>
            <a:r>
              <a:rPr lang="en-US" sz="98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Native fetch() with async/await updates balance cards and tables seamlessly without page reloads.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6400800" y="1143000"/>
            <a:ext cx="5029200" cy="5029200"/>
          </a:xfrm>
          <a:prstGeom prst="roundRect">
            <a:avLst>
              <a:gd name="adj" fmla="val 1455"/>
            </a:avLst>
          </a:prstGeom>
          <a:solidFill>
            <a:srgbClr val="EAEEF3"/>
          </a:solidFill>
          <a:ln w="19050">
            <a:solidFill>
              <a:srgbClr val="B8C7D9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6995160" y="3063240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95160" y="310896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 &amp; DASHBOARD UI SCREENSHOT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995160" y="34747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Paste Screenshot of login.html and dashboard.html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"/>
            <a:ext cx="2011680" cy="201168"/>
          </a:xfrm>
          <a:prstGeom prst="roundRect">
            <a:avLst>
              <a:gd name="adj" fmla="val 36364"/>
            </a:avLst>
          </a:prstGeom>
          <a:solidFill>
            <a:srgbClr val="2A6FC9"/>
          </a:solidFill>
          <a:ln w="12700">
            <a:solidFill>
              <a:srgbClr val="2A6F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FEATURES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731520" y="329184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Banking Portal Features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694944"/>
            <a:ext cx="10698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C8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Comprehensive self-service banking operations for account holders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114300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23444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Dashboard &amp; Balance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1490472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 balance summary card with INR formatting, quick action shortcuts, and recent 5 transactions ledger.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31520" y="242316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1460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Deposit &amp; Withdrawal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2770632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Immediate crediting and debiting with instant validation preventing negative balance states.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31520" y="370332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79476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Instant Fund Transfer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4050792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Atomic inter-account money transfer with automatic debit/credit balance reconciliation in MySQL.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31520" y="498348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07492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Sub-Accounts, Loans &amp; KYC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14400" y="5330952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additional Savings/Current/FD accounts, apply for loans, and update verified KYC contact details.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400800" y="1143000"/>
            <a:ext cx="5029200" cy="4983480"/>
          </a:xfrm>
          <a:prstGeom prst="roundRect">
            <a:avLst>
              <a:gd name="adj" fmla="val 1468"/>
            </a:avLst>
          </a:prstGeom>
          <a:solidFill>
            <a:srgbClr val="EAEEF3"/>
          </a:solidFill>
          <a:ln w="19050">
            <a:solidFill>
              <a:srgbClr val="B8C7D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995160" y="3040380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95160" y="308610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PORTAL SCREENSHOT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995160" y="345186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Paste Screenshot of Customer Dashboard / Transfer Form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"/>
            <a:ext cx="2011680" cy="201168"/>
          </a:xfrm>
          <a:prstGeom prst="roundRect">
            <a:avLst>
              <a:gd name="adj" fmla="val 36364"/>
            </a:avLst>
          </a:prstGeom>
          <a:solidFill>
            <a:srgbClr val="2A6FC9"/>
          </a:solidFill>
          <a:ln w="12700">
            <a:solidFill>
              <a:srgbClr val="2A6F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PORTAL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731520" y="329184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&amp; Admin Management Panel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694944"/>
            <a:ext cx="10698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C8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 control center for bank staff and system administrators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114300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28016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Accounts Directory &amp; Monitoring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14400" y="1645920"/>
            <a:ext cx="4937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overview of all customer accounts across branches, showing live balances, account types, and operational statuses.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288036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0175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 Freeze / Activate Controls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14400" y="3383280"/>
            <a:ext cx="4937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One-click security freeze on suspicious accounts. Frozen accounts are locked from withdrawals and transfers at API and DB layers.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31520" y="461772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754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Loan Decision System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14400" y="5120640"/>
            <a:ext cx="4937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review pending loan applications (amount, category, tenure) and execute single-click Approve / Reject actions with real-time MySQL updates.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0" y="1143000"/>
            <a:ext cx="5029200" cy="5029200"/>
          </a:xfrm>
          <a:prstGeom prst="roundRect">
            <a:avLst>
              <a:gd name="adj" fmla="val 1455"/>
            </a:avLst>
          </a:prstGeom>
          <a:solidFill>
            <a:srgbClr val="EAEEF3"/>
          </a:solidFill>
          <a:ln w="19050">
            <a:solidFill>
              <a:srgbClr val="B8C7D9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995160" y="3063240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95160" y="310896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PANEL &amp; LOAN SCREENSHOT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995160" y="34747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Paste Screenshot of admin.html and loans.html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"/>
            <a:ext cx="2011680" cy="201168"/>
          </a:xfrm>
          <a:prstGeom prst="roundRect">
            <a:avLst>
              <a:gd name="adj" fmla="val 36364"/>
            </a:avLst>
          </a:prstGeom>
          <a:solidFill>
            <a:srgbClr val="2A6FC9"/>
          </a:solidFill>
          <a:ln w="12700">
            <a:solidFill>
              <a:srgbClr val="2A6F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 TRAIL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731520" y="329184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 Logging &amp; Multi-Parameter Transaction History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694944"/>
            <a:ext cx="10698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C8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Immutable financial ledger auditing with server-side query filters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1143000"/>
            <a:ext cx="530352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325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Compliance &amp; Search Filters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1737360"/>
            <a:ext cx="493776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Immutable Audit Ledger: </a:t>
            </a:r>
            <a:pPr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financial movement (Deposit, Withdraw, Transfer) is logged with immutable timestamps and balance_after tracking. Financial records can never be overwritten.
</a:t>
            </a:r>
            <a:pPr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Server-Side Date Filters: </a:t>
            </a:r>
            <a:pPr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Users and auditors can filter transactions between specific start and end dates (From Date / To Date). Backend safely binds dates in parameterized SQL queries.
</a:t>
            </a:r>
            <a:pPr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Transaction Type Filtering: </a:t>
            </a:r>
            <a:pPr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Instant classification by Credit (+) or Debit (-). Color-coded status badges allow rapid visual verification of cash movements.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0" y="1143000"/>
            <a:ext cx="5029200" cy="5029200"/>
          </a:xfrm>
          <a:prstGeom prst="roundRect">
            <a:avLst>
              <a:gd name="adj" fmla="val 1455"/>
            </a:avLst>
          </a:prstGeom>
          <a:solidFill>
            <a:srgbClr val="EAEEF3"/>
          </a:solidFill>
          <a:ln w="19050">
            <a:solidFill>
              <a:srgbClr val="B8C7D9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6995160" y="3063240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95160" y="310896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TRANSACTION HISTORY TABLE SCREENSHOT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995160" y="34747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Paste Screenshot of transactions.html with Date/Type filters applied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"/>
            <a:ext cx="2011680" cy="201168"/>
          </a:xfrm>
          <a:prstGeom prst="roundRect">
            <a:avLst>
              <a:gd name="adj" fmla="val 36364"/>
            </a:avLst>
          </a:prstGeom>
          <a:solidFill>
            <a:srgbClr val="2A6FC9"/>
          </a:solidFill>
          <a:ln w="12700">
            <a:solidFill>
              <a:srgbClr val="2A6F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VERIFICATION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731520" y="329184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Testing &amp; Automated Verification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694944"/>
            <a:ext cx="10698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C8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Comprehensive 22-step End-to-End and API test suite validating stability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1143000"/>
            <a:ext cx="5303520" cy="5029200"/>
          </a:xfrm>
          <a:prstGeom prst="roundRect">
            <a:avLst>
              <a:gd name="adj" fmla="val 1455"/>
            </a:avLst>
          </a:prstGeom>
          <a:solidFill>
            <a:srgbClr val="E6F4EA"/>
          </a:solidFill>
          <a:ln w="25400">
            <a:solidFill>
              <a:srgbClr val="137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37160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7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SUITE RESULTS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173736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37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/ 22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914400" y="260604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7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 PASSED (100% SUCCESS)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37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Failures Reported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97280" y="3291840"/>
            <a:ext cx="45720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Validated Test Coverage:
</a:t>
            </a:r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Authentication &amp; Session Validation (HTTP 200/401)
</a:t>
            </a:r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Deposit/Withdraw Mathematical Precision in MySQL
</a:t>
            </a:r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Atomic Transfer Consistency (Sender &amp; Receiver)
</a:t>
            </a:r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Overdraft and Insufficient Funds Error Handling
</a:t>
            </a:r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Bad Input Sanitization (Non-numeric / Negative amounts)
</a:t>
            </a:r>
            <a:pPr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Filtered Query Validation (Date range &amp; Type filters)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00800" y="1143000"/>
            <a:ext cx="5029200" cy="5029200"/>
          </a:xfrm>
          <a:prstGeom prst="roundRect">
            <a:avLst>
              <a:gd name="adj" fmla="val 1455"/>
            </a:avLst>
          </a:prstGeom>
          <a:solidFill>
            <a:srgbClr val="EAEEF3"/>
          </a:solidFill>
          <a:ln w="19050">
            <a:solidFill>
              <a:srgbClr val="B8C7D9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95160" y="3063240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9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95160" y="310896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TERMINAL TEST RUNNER SCREENSHOT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995160" y="34747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Paste Screenshot of SystemTest.java output showing 22 [PASS] rows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"/>
            <a:ext cx="2011680" cy="201168"/>
          </a:xfrm>
          <a:prstGeom prst="roundRect">
            <a:avLst>
              <a:gd name="adj" fmla="val 36364"/>
            </a:avLst>
          </a:prstGeom>
          <a:solidFill>
            <a:srgbClr val="2A6FC9"/>
          </a:solidFill>
          <a:ln w="12700">
            <a:solidFill>
              <a:srgbClr val="2A6F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STACK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731520" y="329184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Stack &amp; Development Environment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694944"/>
            <a:ext cx="10698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C8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Standard, high-performance tools with zero unnecessary third-party overhead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1143000"/>
            <a:ext cx="2514600" cy="50292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25400">
            <a:solidFill>
              <a:srgbClr val="0B254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143000"/>
            <a:ext cx="25146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2344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Layer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828800"/>
            <a:ext cx="214884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Java 11+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Core OOP Models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Embedded HttpServer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Connector/J 8.3.0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Port 8080 REST API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74720" y="1143000"/>
            <a:ext cx="2514600" cy="50292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25400">
            <a:solidFill>
              <a:srgbClr val="1D4E8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74720" y="1143000"/>
            <a:ext cx="2514600" cy="502920"/>
          </a:xfrm>
          <a:prstGeom prst="rect">
            <a:avLst/>
          </a:prstGeom>
          <a:solidFill>
            <a:srgbClr val="1D4E89"/>
          </a:solidFill>
          <a:ln/>
        </p:spPr>
      </p:sp>
      <p:sp>
        <p:nvSpPr>
          <p:cNvPr id="13" name="Text 11"/>
          <p:cNvSpPr/>
          <p:nvPr/>
        </p:nvSpPr>
        <p:spPr>
          <a:xfrm>
            <a:off x="3566160" y="12344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Layer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0" y="1828800"/>
            <a:ext cx="214884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MySQL 8.0 Server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InnoDB Engine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12 Tables in 3NF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ACID Row Locks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Foreign Key Rules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7920" y="1143000"/>
            <a:ext cx="2514600" cy="50292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25400">
            <a:solidFill>
              <a:srgbClr val="2A6FC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143000"/>
            <a:ext cx="2514600" cy="502920"/>
          </a:xfrm>
          <a:prstGeom prst="rect">
            <a:avLst/>
          </a:prstGeom>
          <a:solidFill>
            <a:srgbClr val="2A6FC9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12344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 Layer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0" y="1828800"/>
            <a:ext cx="214884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Semantic HTML5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CSS3 Variables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Vanilla ES6 JS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fetch() REST Client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localStorage Session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961120" y="1143000"/>
            <a:ext cx="2514600" cy="50292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25400">
            <a:solidFill>
              <a:srgbClr val="3F51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61120" y="1143000"/>
            <a:ext cx="2514600" cy="502920"/>
          </a:xfrm>
          <a:prstGeom prst="rect">
            <a:avLst/>
          </a:prstGeom>
          <a:solidFill>
            <a:srgbClr val="3F51B5"/>
          </a:solidFill>
          <a:ln/>
        </p:spPr>
      </p:sp>
      <p:sp>
        <p:nvSpPr>
          <p:cNvPr id="21" name="Text 19"/>
          <p:cNvSpPr/>
          <p:nvPr/>
        </p:nvSpPr>
        <p:spPr>
          <a:xfrm>
            <a:off x="9052560" y="12344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Tools &amp; DevOps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0" y="1828800"/>
            <a:ext cx="214884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VS Code &amp; Terminal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Git &amp; GitHub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MySQL Workbench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Batch Scripts (.bat)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B2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SystemTest Runner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Conclusion &amp; Live Demo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97280" y="1463040"/>
            <a:ext cx="9966960" cy="2194560"/>
          </a:xfrm>
          <a:prstGeom prst="roundRect">
            <a:avLst>
              <a:gd name="adj" fmla="val 4167"/>
            </a:avLst>
          </a:prstGeom>
          <a:solidFill>
            <a:srgbClr val="13345A"/>
          </a:solidFill>
          <a:ln w="12700">
            <a:solidFill>
              <a:srgbClr val="244B7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371600" y="1645920"/>
            <a:ext cx="94183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Achievements &amp; Takeaways:
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Built a robust, production-grade 3-tier banking system from scratch without bulky frameworks.
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Successfully bridged Java OOP domain models with a 3NF normalized MySQL database.
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Enforced strict ACID transactional integrity on all inter-account financial operations.
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Verified 100% test pass rate across 22 automated integration tests in SystemTest.java.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731520" y="39319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You!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0B8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are now ready for Questions &amp; Live System Demonstration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525780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0D4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 Repository: github.com/patilmanasvi/Bank-Management-System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Computer Engineering Dept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Bank Management System - Project Presentation</dc:title>
  <dc:subject>PptxGenJS Presentation</dc:subject>
  <dc:creator>Bank Management System Team</dc:creator>
  <cp:lastModifiedBy>Bank Management System Team</cp:lastModifiedBy>
  <cp:revision>1</cp:revision>
  <dcterms:created xsi:type="dcterms:W3CDTF">2026-09-23T15:51:06Z</dcterms:created>
  <dcterms:modified xsi:type="dcterms:W3CDTF">2026-09-23T15:51:06Z</dcterms:modified>
</cp:coreProperties>
</file>